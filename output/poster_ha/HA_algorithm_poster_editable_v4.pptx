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5b4f69964f4dbf" /><Relationship Type="http://schemas.openxmlformats.org/officeDocument/2006/relationships/extended-properties" Target="/docProps/app.xml" Id="R7449d6f2394b4b63" /><Relationship Type="http://schemas.openxmlformats.org/officeDocument/2006/relationships/officeDocument" Target="/ppt/presentation.xml" Id="R58ed780ef6a3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9eb9fc980444e8"/>
  </p:sldMasterIdLst>
  <p:notesMasterIdLst>
    <p:notesMasterId xmlns:r="http://schemas.openxmlformats.org/officeDocument/2006/relationships" r:id="R0b7bd340c3ca4fb0"/>
  </p:notesMasterIdLst>
  <p:sldIdLst>
    <p:sldId xmlns:r="http://schemas.openxmlformats.org/officeDocument/2006/relationships" id="256" r:id="R5db6c1ffc74c41b8"/>
  </p:sldIdLst>
  <p:sldSz cx="17145000" cy="4286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b75ed9fad0407e" /><Relationship Type="http://schemas.openxmlformats.org/officeDocument/2006/relationships/slideMaster" Target="/ppt/slideMasters/slideMaster1.xml" Id="Re29eb9fc980444e8" /><Relationship Type="http://schemas.openxmlformats.org/officeDocument/2006/relationships/notesMaster" Target="/ppt/notesMasters/notesMaster1.xml" Id="R0b7bd340c3ca4fb0" /><Relationship Type="http://schemas.openxmlformats.org/officeDocument/2006/relationships/presProps" Target="/ppt/presProps.xml" Id="Rc7c9dab81cbd449b" /><Relationship Type="http://schemas.openxmlformats.org/officeDocument/2006/relationships/tableStyles" Target="/ppt/tableStyles.xml" Id="R61ad955d23ea45ad" /><Relationship Type="http://schemas.openxmlformats.org/officeDocument/2006/relationships/slide" Target="/ppt/slides/slide1.xml" Id="R5db6c1ffc74c41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17291cae54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164556cf0f4859" /><Relationship Type="http://schemas.openxmlformats.org/officeDocument/2006/relationships/notesMaster" Target="/ppt/notesMasters/notesMaster1.xml" Id="R6328d11ebb8f41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e81298b4f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a80eddd6d043a8" /><Relationship Type="http://schemas.openxmlformats.org/officeDocument/2006/relationships/slideLayout" Target="/ppt/slideLayouts/slideLayout1.xml" Id="Re642c6cae353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2c6cae353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a3377918544ee" /><Relationship Type="http://schemas.openxmlformats.org/officeDocument/2006/relationships/image" Target="/ppt/media/image.png" Id="Raea81a7bfb974b71" /><Relationship Type="http://schemas.openxmlformats.org/officeDocument/2006/relationships/image" Target="/ppt/media/image2.png" Id="Rba4c36655d534df9" /><Relationship Type="http://schemas.openxmlformats.org/officeDocument/2006/relationships/image" Target="/ppt/media/image3.png" Id="R3306c31746bc492d" /><Relationship Type="http://schemas.openxmlformats.org/officeDocument/2006/relationships/image" Target="/ppt/media/image4.png" Id="R2e78bbbe3a1a409e" /><Relationship Type="http://schemas.openxmlformats.org/officeDocument/2006/relationships/notesSlide" Target="/ppt/notesSlides/notesSlide1.xml" Id="Rf730f3121344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81a7bfb974b71"/>
          <a:srcRect xmlns:a="http://schemas.openxmlformats.org/drawingml/2006/main" l="20000" t="0" r="2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145000" cy="4286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5C6E7-2720-41C2-BF83-90A67C8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42862500"/>
          </a:xfrm>
          <a:prstGeom xmlns:a="http://schemas.openxmlformats.org/drawingml/2006/main" prst="roundRect">
            <a:avLst>
              <a:gd name="adj" fmla="val 778"/>
            </a:avLst>
          </a:prstGeom>
          <a:solidFill xmlns:a="http://schemas.openxmlformats.org/drawingml/2006/main">
            <a:srgbClr val="061735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6AAAE-D652-4672-A63B-6719A96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0" cy="3905250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061735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67E57-A729-4FD4-8851-49DE859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60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基于聚类自适应局部搜索与混合交叉池的混合进化算法研究与应用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6B024-09D3-4BC8-8E0C-CA1ED30D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428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通用混合进化算法：面向高维、多模态、昂贵黑箱与多目标约束优化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2C3C9-B297-42FB-89B1-7996699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238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胡杨超  |  电子科技大学（深圳）高等研究院  |  计算机技术  |  导师：李耘、王华山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294C5-D85A-4D21-8B01-CC8945F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60401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8224F">
              <a:alpha val="86000"/>
            </a:srgbClr>
          </a:solidFill>
          <a:ln xmlns:a="http://schemas.openxmlformats.org/drawingml/2006/main" w="19050">
            <a:solidFill>
              <a:srgbClr val="49DBFF">
                <a:alpha val="7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DE6CC-4C29-4FBE-A5EF-2F9CC6D1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547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研究对象不是某一个固定工程零件，而是一套可迁移的优化算法框架。算法以“全局进化负责探索、聚类局部搜索负责开发、混合交叉池负责重组、多臂老虎机与标量化负责自适应决策”为主线，在 CEC/ZDT 基准与工程仿真案例中验证其收敛精度、函数评估效率和可扩展性。</a:t>
            </a:r>
          </a:p>
        </p:txBody>
      </p:sp>
      <p:sp>
        <p:nvSpPr>
          <p:cNvPr id="9" name="panel-问题定义与研究动机">
            <a:extLst xmlns:a="http://schemas.openxmlformats.org/drawingml/2006/main">
              <a:ext uri="{FF2B5EF4-FFF2-40B4-BE49-F238E27FC236}">
                <a16:creationId xmlns:a16="http://schemas.microsoft.com/office/drawing/2014/main" id="{1C1948BE-EA75-486A-BB95-667D6244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5238750" cy="590550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49DBFF">
                <a:alpha val="9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0E1C5-60EB-4C47-9FF3-7F6BB9D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95250" cy="590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70DC4-8D56-4A9D-9BEC-4316595B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问题定义与研究动机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674D0-E391-4971-8D2B-84475F70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通用算法目标，而非单一工程问题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82D83-8275-41CA-9E70-9AC5B5C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12A85-3192-4600-ACC0-D3CC907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95875"/>
            <a:ext cx="4619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复杂优化常表现为高维、非线性、多模态、黑箱、不可导和计算昂贵。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标准 GA 全局性较强，但局部开发弱，后期收敛慢，且容易破坏长距离优良图式。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全员局部搜索会消耗大量函数评估次数，在昂贵仿真环境下不可接受。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本研究构建从单目标到多目标、从无约束到有约束均可扩展的混合进化框架。</a:t>
            </a:r>
          </a:p>
        </p:txBody>
      </p:sp>
      <p:sp>
        <p:nvSpPr>
          <p:cNvPr id="15" name="formula-通用形式">
            <a:extLst xmlns:a="http://schemas.openxmlformats.org/drawingml/2006/main">
              <a:ext uri="{FF2B5EF4-FFF2-40B4-BE49-F238E27FC236}">
                <a16:creationId xmlns:a16="http://schemas.microsoft.com/office/drawing/2014/main" id="{E392BFE9-7635-4E94-90A2-16CC6927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0"/>
            <a:ext cx="46101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49D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790E3-D2EF-4A7B-8832-FFC2663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153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9DBFF"/>
                </a:solidFill>
                <a:latin typeface="Microsoft YaHei"/>
                <a:ea typeface="Microsoft YaHei"/>
                <a:cs typeface="Microsoft YaHei"/>
              </a:rPr>
              <a:t>通用形式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8E4CA-0479-4AB3-8014-F7597A9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515350"/>
            <a:ext cx="4267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min / max   F(x)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s.t.   gⱼ(x) ≤ 0,   hₖ(x)=0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x ∈ Ω,   F(x) may be black-box</a:t>
            </a:r>
          </a:p>
        </p:txBody>
      </p:sp>
      <p:sp>
        <p:nvSpPr>
          <p:cNvPr id="18" name="panel-算法总体框架">
            <a:extLst xmlns:a="http://schemas.openxmlformats.org/drawingml/2006/main">
              <a:ext uri="{FF2B5EF4-FFF2-40B4-BE49-F238E27FC236}">
                <a16:creationId xmlns:a16="http://schemas.microsoft.com/office/drawing/2014/main" id="{4B5CA410-8CE8-4682-84B2-49C4A61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48125"/>
            <a:ext cx="5238750" cy="590550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FFCE48">
                <a:alpha val="9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510D4-97F9-4A4E-BA23-9B73E7AD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48125"/>
            <a:ext cx="95250" cy="590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F1DB6-3252-44A4-B343-38DD07F1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005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算法总体框架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E561C-BBF0-43D7-8FC8-C23A530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434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Lamarckian learning + population evolution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4B3E9-722D-4A10-AAFD-1D510C4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8632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0E30A-EAD2-4CB8-8268-3D2EFDF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3875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577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181D4-8AA4-498E-AD58-8B47325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530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P_t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D7BA9-3FE2-4101-BEA0-7A592C6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95950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初始化/保留精英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DF2B0-4272-4630-B539-5E888F8D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6388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3A01E-3985-43D0-B5CA-C1B32825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23875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577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CB315-805A-48D4-9374-CD8850D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530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聚类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186B8-5E5F-498A-BBEF-571F32A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695950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识别局部盆地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4359EA-19F1-4C0F-9C23-3C1249EE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6388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F68E1C-081F-4B03-8575-CB63037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23875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577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8857F-6DBD-4118-B180-5AAFFA04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3530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局部搜索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808F8-D5F7-4C09-9E51-B67D61C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695950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代表个体后天学习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886E0-3CE3-48E0-83C6-B8D520D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000875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577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A4C60-F4E5-43AE-A218-7CCB2D51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71151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8565D6-D6EE-4A51-A1A1-4632B24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7458075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x' 替换 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A8473A-DB0A-409E-9620-27E1616A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4009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F3DF1-841A-4E0D-8101-615ADEC7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7000875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577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2F6610-7FDC-407B-9AB9-C3E905B7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1151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交叉池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621FC-2068-408D-9346-78E769B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458075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SBX/多父代/DE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9014A7-B77C-45DD-A9C3-5EE7BE8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7400925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CB0634-2295-4C62-904A-6238CBD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000875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577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0568D4-273B-4127-9EA4-52FA9EFB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1151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D430A2-D2F5-471C-8AEE-D7B1BBB0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458075"/>
            <a:ext cx="99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约束优先+精英保留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9E15DA-545B-45C2-AB9C-36BB4C7A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8496300"/>
            <a:ext cx="4629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核心思想：学习结果不是只改变适应度评价，而是以 Lamarckian 方式回写到染色体，直接改变下一代可继承信息。聚类控制“在哪里学”，交叉池控制“如何重组”。</a:t>
            </a:r>
          </a:p>
        </p:txBody>
      </p:sp>
      <p:sp>
        <p:nvSpPr>
          <p:cNvPr id="46" name="panel-聚类自适应局部搜索">
            <a:extLst xmlns:a="http://schemas.openxmlformats.org/drawingml/2006/main">
              <a:ext uri="{FF2B5EF4-FFF2-40B4-BE49-F238E27FC236}">
                <a16:creationId xmlns:a16="http://schemas.microsoft.com/office/drawing/2014/main" id="{4164F8A2-2A8C-4D4F-AB1B-B0CD656D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048125"/>
            <a:ext cx="5238750" cy="590550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FF8E46">
                <a:alpha val="90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211D03-F642-4FCD-992B-EC0415E2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048125"/>
            <a:ext cx="95250" cy="590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E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383B27-0204-4391-8A93-971C6A1B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2005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聚类自适应局部搜索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EA6E6A-90BD-4AE7-82D2-DD89C59D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5434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本课题重点强调机制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478B19-18EA-4918-B2FF-5F052169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88632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E4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D29193-B595-4A19-B4B7-4704DC2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095875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在决策空间进行 K-means / MeanShift / DBSCAN 聚类，兼容固定簇数与密度自适应场景。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每 5 代周期触发，或连续 3 代无改进触发；停滞时加深搜索深度。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每簇只选择约束优先意义下的代表个体；簇数过多时保留最有潜力的 niche_num 个代表。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改进后才回写，避免局部搜索噪声污染种群。</a:t>
            </a:r>
          </a:p>
        </p:txBody>
      </p:sp>
      <p:sp>
        <p:nvSpPr>
          <p:cNvPr id="52" name="formula-触发与代表">
            <a:extLst xmlns:a="http://schemas.openxmlformats.org/drawingml/2006/main">
              <a:ext uri="{FF2B5EF4-FFF2-40B4-BE49-F238E27FC236}">
                <a16:creationId xmlns:a16="http://schemas.microsoft.com/office/drawing/2014/main" id="{70A384AB-5BB2-462C-8AAB-8FEE0191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8172450"/>
            <a:ext cx="461010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FF8E4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9A98BB-0F7D-41FE-A68B-4B8F1B9D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82867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E46"/>
                </a:solidFill>
                <a:latin typeface="Microsoft YaHei"/>
                <a:ea typeface="Microsoft YaHei"/>
                <a:cs typeface="Microsoft YaHei"/>
              </a:rPr>
              <a:t>触发与代表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F326F7-C206-4029-B18A-58EB2EB6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8686800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trigger ⇔ (t mod 5 = 0) ∨ (s ≥ 3)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r_c = arg best_{i∈C_c}(CV_i, f_i)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depth = 10 if stagnant else 3</a:t>
            </a:r>
          </a:p>
        </p:txBody>
      </p:sp>
      <p:sp>
        <p:nvSpPr>
          <p:cNvPr id="55" name="panel-局部代理与伪梯度">
            <a:extLst xmlns:a="http://schemas.openxmlformats.org/drawingml/2006/main">
              <a:ext uri="{FF2B5EF4-FFF2-40B4-BE49-F238E27FC236}">
                <a16:creationId xmlns:a16="http://schemas.microsoft.com/office/drawing/2014/main" id="{CE3670DB-D085-4B85-A42A-0B40536D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34625"/>
            <a:ext cx="5238750" cy="657225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49DBFF">
                <a:alpha val="9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119F20-A0F0-444E-8FB9-E1308F3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34625"/>
            <a:ext cx="95250" cy="657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430682-F3A4-45A8-82EE-E17CC1B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870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局部代理与伪梯度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2B0352-4F16-47E8-84E3-3E7CC954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299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面向小样本昂贵黑箱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EE5103-8EBB-4570-BB44-1EC929B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17282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B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905D46-FEE8-455A-9DBA-994476C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382375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局部搜索并不假设真实目标可导。算法复用簇内邻域和历史样本，构建局部 RBF/GP 近似，获得低代价的搜索方向；当样本不足或代理不可靠时，回退到直接搜索/原始解。</a:t>
            </a:r>
          </a:p>
        </p:txBody>
      </p:sp>
      <p:sp>
        <p:nvSpPr>
          <p:cNvPr id="61" name="formula-代理模型目标">
            <a:extLst xmlns:a="http://schemas.openxmlformats.org/drawingml/2006/main">
              <a:ext uri="{FF2B5EF4-FFF2-40B4-BE49-F238E27FC236}">
                <a16:creationId xmlns:a16="http://schemas.microsoft.com/office/drawing/2014/main" id="{20DE639B-4314-4252-B10E-4EB4A88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30200"/>
            <a:ext cx="461010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49DB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1DF636-5E56-418C-BCE2-0F1B660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1445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9DBFF"/>
                </a:solidFill>
                <a:latin typeface="Microsoft YaHei"/>
                <a:ea typeface="Microsoft YaHei"/>
                <a:cs typeface="Microsoft YaHei"/>
              </a:rPr>
              <a:t>代理模型目标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188A46-1E0D-4940-BD9F-8512986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44550"/>
            <a:ext cx="4267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ŷ(x) = Σᵢ λᵢ φ(‖x − xᵢ‖) + p(x)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x_next = arg min_x [ μ(x) − κσ(x) ]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y = F + α·CV,    α ≈ 10·mean(|F|)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732683-BD77-48E3-A00C-887DC6E7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209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小样本场景的关键不是全局代理处处准确，而是在候选盆地内快速变准。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0BF1BF-A0F5-4A3C-9996-AC0540ED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448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工程仿真闭环只作为验证场景之一：参数 → 仿真响应 → 代理更新 → HA 候选 → 真实回评。</a:t>
            </a:r>
          </a:p>
        </p:txBody>
      </p:sp>
      <p:sp>
        <p:nvSpPr>
          <p:cNvPr id="66" name="panel-混合交叉池">
            <a:extLst xmlns:a="http://schemas.openxmlformats.org/drawingml/2006/main">
              <a:ext uri="{FF2B5EF4-FFF2-40B4-BE49-F238E27FC236}">
                <a16:creationId xmlns:a16="http://schemas.microsoft.com/office/drawing/2014/main" id="{4D5806D2-0F01-4C2C-8768-04DECAB5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334625"/>
            <a:ext cx="5238750" cy="657225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FFCE48">
                <a:alpha val="90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D5ECFD-BD0A-4CDD-8CF8-CF5D9C60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334625"/>
            <a:ext cx="95250" cy="657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176889-9DD8-45A7-A46C-58210A0B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04870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混合交叉池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7EED23-F1D0-432C-8E4C-45F78438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08299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显式比例 + 隐性选择压力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04B8DB-DFCE-4E1F-965A-E1E91A5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117282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71" name="formula-三类重组算子">
            <a:extLst xmlns:a="http://schemas.openxmlformats.org/drawingml/2006/main">
              <a:ext uri="{FF2B5EF4-FFF2-40B4-BE49-F238E27FC236}">
                <a16:creationId xmlns:a16="http://schemas.microsoft.com/office/drawing/2014/main" id="{F166C8B3-321F-4B90-86A6-90323E38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1382375"/>
            <a:ext cx="461010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92551F-6DF4-4898-8DBB-29E2139D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1496675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三类重组算子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6779C5-6955-4C02-8B66-6EA2E7D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1896725"/>
            <a:ext cx="42672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SBX 60%:   β = (2u)^{1/(η+1)},    u ≤ 0.5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          β = [1/(2(1−u))]^{1/(η+1)},    u &gt; 0.5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Multi-parent 25%:   x_c = Σᵢ ωᵢ xᵢ + ε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DE 15%:   v = x + F₁(x_best−x) + F₂(x_r1−x_r2)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6200FA-AFAB-4F20-808C-73E8F1B3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1732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设计理由：SBX 保证稳定遗传，多父代融合群体统计信息，DE/current-to-best 提供方向性开发。三者共同缓解“纯随机缺方向”和“单一算子易失效”的问题。</a:t>
            </a:r>
          </a:p>
        </p:txBody>
      </p:sp>
      <p:sp>
        <p:nvSpPr>
          <p:cNvPr id="75" name="formula-多项式变异">
            <a:extLst xmlns:a="http://schemas.openxmlformats.org/drawingml/2006/main">
              <a:ext uri="{FF2B5EF4-FFF2-40B4-BE49-F238E27FC236}">
                <a16:creationId xmlns:a16="http://schemas.microsoft.com/office/drawing/2014/main" id="{C512BC90-6DDB-4FF4-A36C-11847D0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335250"/>
            <a:ext cx="4610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11E553-12EA-4621-823E-DBD891F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4495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多项式变异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C3BBC1-2261-438C-8294-E317021E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84960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p_m = 1/d,    η_m = 20 + 80·min(1,t/50)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stagnant ⇒ η_m ↓,   mutation radius ↑</a:t>
            </a:r>
          </a:p>
        </p:txBody>
      </p:sp>
      <p:sp>
        <p:nvSpPr>
          <p:cNvPr id="78" name="panel-多臂老虎机自适应策略选择">
            <a:extLst xmlns:a="http://schemas.openxmlformats.org/drawingml/2006/main">
              <a:ext uri="{FF2B5EF4-FFF2-40B4-BE49-F238E27FC236}">
                <a16:creationId xmlns:a16="http://schemas.microsoft.com/office/drawing/2014/main" id="{79EDA879-2564-444E-AB61-7B3085D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0334625"/>
            <a:ext cx="5238750" cy="6572250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A498FF">
                <a:alpha val="9000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EA65AD-10E0-4602-AB69-7260D7B5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0334625"/>
            <a:ext cx="95250" cy="657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9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C1260DD-7B47-4B7B-9914-4F2A2840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04870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多臂老虎机自适应策略选择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911F03-77A5-47B2-AC82-19D2C0A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082992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让搜索器选择随阶段改变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C9D79E-B672-4B7C-9E87-FB09F757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1172825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98FF"/>
            </a:solidFill>
            <a:prstDash val="solid"/>
          </a:ln>
        </p:spPr>
      </p:sp>
      <p:sp>
        <p:nvSpPr>
          <p:cNvPr id="83" name="formula-QL / UCB 更新">
            <a:extLst xmlns:a="http://schemas.openxmlformats.org/drawingml/2006/main">
              <a:ext uri="{FF2B5EF4-FFF2-40B4-BE49-F238E27FC236}">
                <a16:creationId xmlns:a16="http://schemas.microsoft.com/office/drawing/2014/main" id="{D5813365-7788-4910-9DAB-FEE6D05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1382375"/>
            <a:ext cx="46101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A498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8F53D0B-8C85-4996-8375-466E337A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11496675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49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498FF"/>
                </a:solidFill>
                <a:latin typeface="Microsoft YaHei"/>
                <a:ea typeface="Microsoft YaHei"/>
                <a:cs typeface="Microsoft YaHei"/>
              </a:rPr>
              <a:t>QL / UCB 更新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C63595-BF57-4A20-886B-2C02AEF5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11896725"/>
            <a:ext cx="4267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ε-greedy:   a ∼ Uniform(A),   if p &lt; ε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             a = arg max_a Q(a),   otherwise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R_t = max(0, f_before − f_after)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Q(a) ← Q(a) + (1/n_a)[R_t − Q(a)]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UCB(a) = Q(a) + c √(log t / n_a)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E4C267-1658-4AED-92A1-EE152BEA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13935075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将局部搜索器视作“臂”，用真实改进量学习当前阶段最值得调用的搜索方式。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962C4BC-0456-4C69-A6E5-95255AFA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4716125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双选择器思想：全局最优个体偏深度开发，普通精英个体偏代理/探索，避免一种经验支配所有个体。</a:t>
            </a:r>
          </a:p>
        </p:txBody>
      </p:sp>
      <p:sp>
        <p:nvSpPr>
          <p:cNvPr id="88" name="panel-约束处理与多样性维护">
            <a:extLst xmlns:a="http://schemas.openxmlformats.org/drawingml/2006/main">
              <a:ext uri="{FF2B5EF4-FFF2-40B4-BE49-F238E27FC236}">
                <a16:creationId xmlns:a16="http://schemas.microsoft.com/office/drawing/2014/main" id="{8A437CFB-CF48-46DF-83A1-237BF66A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16450"/>
            <a:ext cx="5238750" cy="7210425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73ECA0">
                <a:alpha val="9000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3756502-41D7-4409-B4A3-D0A99849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16450"/>
            <a:ext cx="95250" cy="7210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EC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FFE4C9-3C62-4B34-95F4-85B4D331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688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约束处理与多样性维护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E9DDFAF-A420-4908-BF65-D7FA5EA9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0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防止不可行和早熟收敛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037A58-7D1F-4A5E-8A05-3D69D049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546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ECA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28D7F47-F435-4384-B5EF-1CD30C4C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383250"/>
            <a:ext cx="46196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约束排序采用可行解优先思想：可行解优于不可行解；同可行比较目标，同不可行比较违反度。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标量局部搜索统一叠加约束惩罚，使无约束局部搜索器也能感知可行性。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重复个体过多时注入随机个体并重置步长，维持后期探索能力。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工程仿真异常、网格失败或无效响应返回大罚值，保证算法流程不断裂。</a:t>
            </a:r>
          </a:p>
        </p:txBody>
      </p:sp>
      <p:sp>
        <p:nvSpPr>
          <p:cNvPr id="94" name="formula-约束惩罚">
            <a:extLst xmlns:a="http://schemas.openxmlformats.org/drawingml/2006/main">
              <a:ext uri="{FF2B5EF4-FFF2-40B4-BE49-F238E27FC236}">
                <a16:creationId xmlns:a16="http://schemas.microsoft.com/office/drawing/2014/main" id="{541026DA-AC85-404A-89BB-DB1D183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83700"/>
            <a:ext cx="46101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73ECA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E3EEEA-BA13-4305-888A-4F128453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E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3ECA0"/>
                </a:solidFill>
                <a:latin typeface="Microsoft YaHei"/>
                <a:ea typeface="Microsoft YaHei"/>
                <a:cs typeface="Microsoft YaHei"/>
              </a:rPr>
              <a:t>约束惩罚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85CC0D-776F-4E81-A363-E93B8F8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98050"/>
            <a:ext cx="42672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g(x) = value(x) + α·CV(x)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α = 10|value(x)| + 1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CV(x) = Σⱼ max(0, gⱼ(x))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5C9C145-81D1-4EDD-82B6-BFDA903B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791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与 Deb 可行性规则共同工作：选择时重可行性，局部搜索时用连续惩罚引导方向。</a:t>
            </a:r>
          </a:p>
        </p:txBody>
      </p:sp>
      <p:sp>
        <p:nvSpPr>
          <p:cNvPr id="98" name="panel-多目标扩展：NSHA">
            <a:extLst xmlns:a="http://schemas.openxmlformats.org/drawingml/2006/main">
              <a:ext uri="{FF2B5EF4-FFF2-40B4-BE49-F238E27FC236}">
                <a16:creationId xmlns:a16="http://schemas.microsoft.com/office/drawing/2014/main" id="{F3C11BE6-75D7-4445-81B9-3D146F0D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316450"/>
            <a:ext cx="5238750" cy="7210425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FF8E46">
                <a:alpha val="9000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C2FDD73-4B3C-44ED-BB30-90745D4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316450"/>
            <a:ext cx="95250" cy="7210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E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C01ED59-B480-496C-A25F-0712B43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4688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多目标扩展：NSHA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BA0B7FA-B893-4EAD-AB94-70BA7B8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811750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局部搜索与 Pareto 前沿相容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A4E231-AB80-4885-8B75-05876AB9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1546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E4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AD8139F-73D6-4F37-A2B7-6F0394B7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383250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NSHA 将多目标问题沿 NSGA-III 参考方向分解。每个 niche 选择代表个体，并用对应参考方向构造标量化目标；局部改进后回到多目标选择框架中维护前沿分布。</a:t>
            </a:r>
          </a:p>
        </p:txBody>
      </p:sp>
      <p:sp>
        <p:nvSpPr>
          <p:cNvPr id="104" name="formula-标量化公式">
            <a:extLst xmlns:a="http://schemas.openxmlformats.org/drawingml/2006/main">
              <a:ext uri="{FF2B5EF4-FFF2-40B4-BE49-F238E27FC236}">
                <a16:creationId xmlns:a16="http://schemas.microsoft.com/office/drawing/2014/main" id="{0800173C-95BF-4C10-9329-966F9B95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97750"/>
            <a:ext cx="4610100" cy="331470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FF8E4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844B3CA-782C-4B9B-B99D-18E5E2B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2120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E46"/>
                </a:solidFill>
                <a:latin typeface="Microsoft YaHei"/>
                <a:ea typeface="Microsoft YaHei"/>
                <a:cs typeface="Microsoft YaHei"/>
              </a:rPr>
              <a:t>标量化公式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3966520-445F-4351-921E-8C2507CC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612100"/>
            <a:ext cx="4267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F_s = F(x) − z*,    ŵ = w / ‖w‖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d₁ = ⟨F_s, ŵ⟩,    d₂ = ‖F_s − d₁ŵ‖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g_PBI = d₁ + θd₂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g_TCH = max_i  w_i |f_i − z_i*|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g_ASF = max_i  (f_i − z_i*) / w_i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A1D917-3112-4774-98D6-0D251590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9171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所有 scalarizer 叠加 value+αCV；ZDT2/ZDT3 暴露了凹/不连续前沿下进一步改进 θ 和 nadir 的必要性。</a:t>
            </a:r>
          </a:p>
        </p:txBody>
      </p:sp>
      <p:sp>
        <p:nvSpPr>
          <p:cNvPr id="108" name="panel-理论解释与验证路径">
            <a:extLst xmlns:a="http://schemas.openxmlformats.org/drawingml/2006/main">
              <a:ext uri="{FF2B5EF4-FFF2-40B4-BE49-F238E27FC236}">
                <a16:creationId xmlns:a16="http://schemas.microsoft.com/office/drawing/2014/main" id="{EE21B5E4-9E3C-4A79-9ABA-CA6EC42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7316450"/>
            <a:ext cx="5238750" cy="7210425"/>
          </a:xfrm>
          <a:prstGeom xmlns:a="http://schemas.openxmlformats.org/drawingml/2006/main" prst="roundRect">
            <a:avLst>
              <a:gd name="adj" fmla="val 2545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49DBFF">
                <a:alpha val="9000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1C3A3F2-58AF-4B24-BF10-AC7B3E40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7316450"/>
            <a:ext cx="95250" cy="7210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D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816503B-5329-4DB9-9A3B-CA099D67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46885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理论解释与验证路径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C3BD24B-01EE-42F3-93D9-F0D5F1D3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811750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为什么它有研究价值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224D73-1B83-4111-9E66-A486E91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815465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B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0792AA1-7C1D-48FA-A624-D2EE267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8383250"/>
            <a:ext cx="4619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图式定理扩展：多父代概率采样降低长定义距图式被交叉破坏的概率。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马尔可夫链收敛：精英保留使状态转移满足收敛分析所需的单调保优条件。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消融实验：Full HA / 去聚类 / 去局部搜索 / 标准交叉 / 标准 GA。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统计检验：CEC/ZDT 上结合 IGD、HV、最优值、FEs 与 Wilcoxon 秩和检验。</a:t>
            </a:r>
          </a:p>
        </p:txBody>
      </p:sp>
      <p:sp>
        <p:nvSpPr>
          <p:cNvPr id="114" name="formula-图式与收敛表达">
            <a:extLst xmlns:a="http://schemas.openxmlformats.org/drawingml/2006/main">
              <a:ext uri="{FF2B5EF4-FFF2-40B4-BE49-F238E27FC236}">
                <a16:creationId xmlns:a16="http://schemas.microsoft.com/office/drawing/2014/main" id="{CF5061CC-634D-4C4A-B938-C0B5A830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1526500"/>
            <a:ext cx="4610100" cy="2647950"/>
          </a:xfrm>
          <a:prstGeom xmlns:a="http://schemas.openxmlformats.org/drawingml/2006/main" prst="roundRect">
            <a:avLst>
              <a:gd name="adj" fmla="val 5036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49DB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0BD0166-755B-42E2-9DFB-95609BC4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16408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9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9DBFF"/>
                </a:solidFill>
                <a:latin typeface="Microsoft YaHei"/>
                <a:ea typeface="Microsoft YaHei"/>
                <a:cs typeface="Microsoft YaHei"/>
              </a:rPr>
              <a:t>图式与收敛表达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648453E-DFC6-4EA1-882E-D1152786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2040850"/>
            <a:ext cx="42672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E[m(H,t+1)] ≥ m(H,t) · f(H)/f̄ · (1−p_d)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Elitism:   best(P_{t+1}) ≤ best(P_t)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P{ lim_{t→∞} P_t ∩ X* ≠ ∅ } = 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E48F14-FDDF-4FCB-9CB5-FE40164A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367915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海报中只给核心表达，完整证明应放论文正文。</a:t>
            </a:r>
          </a:p>
        </p:txBody>
      </p:sp>
      <p:sp>
        <p:nvSpPr>
          <p:cNvPr id="118" name="panel-阶段实验：ZDT 多目标验证（算法通用性的一部分）">
            <a:extLst xmlns:a="http://schemas.openxmlformats.org/drawingml/2006/main">
              <a:ext uri="{FF2B5EF4-FFF2-40B4-BE49-F238E27FC236}">
                <a16:creationId xmlns:a16="http://schemas.microsoft.com/office/drawing/2014/main" id="{79E000F5-C130-4B44-8322-84829CC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36450"/>
            <a:ext cx="16230600" cy="7781925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FFCE48">
                <a:alpha val="9000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CBF0D2D-9DA2-477E-A176-FC2DA3E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36450"/>
            <a:ext cx="95250" cy="778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E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21DB259-7A7E-4381-A776-921F160B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88850"/>
            <a:ext cx="1569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阶段实验：ZDT 多目标验证（算法通用性的一部分）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6D0D4E6-930B-4264-BCD9-CE1ED349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0"/>
            <a:ext cx="1569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图示为 NSGA-III 与 HA-RBF-PBI 的 Pareto 前沿对比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E3D1434-D51B-49E0-AC40-F59878D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74650"/>
            <a:ext cx="1569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E48"/>
            </a:solidFill>
            <a:prstDash val="solid"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c36655d534df9"/>
          <a:stretch xmlns:a="http://schemas.openxmlformats.org/drawingml/2006/main"/>
        </p:blipFill>
        <p:spPr>
          <a:xfrm xmlns:a="http://schemas.openxmlformats.org/drawingml/2006/main">
            <a:off x="876300" y="26229016"/>
            <a:ext cx="4781550" cy="3958544"/>
          </a:xfrm>
          <a:prstGeom xmlns:a="http://schemas.openxmlformats.org/drawingml/2006/main" prst="rect">
            <a:avLst/>
          </a:prstGeom>
        </p:spPr>
      </p:pic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A335D66-D18F-4FBF-99BA-9A9E418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74700"/>
            <a:ext cx="4781550" cy="4067175"/>
          </a:xfrm>
          <a:prstGeom xmlns:a="http://schemas.openxmlformats.org/drawingml/2006/main" prst="roundRect">
            <a:avLst>
              <a:gd name="adj" fmla="val 3279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FFCE48"/>
            </a:solidFill>
            <a:prstDash val="solid"/>
          </a:ln>
        </p:spPr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6c31746bc492d"/>
          <a:stretch xmlns:a="http://schemas.openxmlformats.org/drawingml/2006/main"/>
        </p:blipFill>
        <p:spPr>
          <a:xfrm xmlns:a="http://schemas.openxmlformats.org/drawingml/2006/main">
            <a:off x="6191250" y="26229016"/>
            <a:ext cx="4781550" cy="3958544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2869A26-13CC-46DE-BBAE-A6CEAB5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74700"/>
            <a:ext cx="4781550" cy="4067175"/>
          </a:xfrm>
          <a:prstGeom xmlns:a="http://schemas.openxmlformats.org/drawingml/2006/main" prst="roundRect">
            <a:avLst>
              <a:gd name="adj" fmla="val 3279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FFCE48"/>
            </a:solidFill>
            <a:prstDash val="solid"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8bbbe3a1a409e"/>
          <a:stretch xmlns:a="http://schemas.openxmlformats.org/drawingml/2006/main"/>
        </p:blipFill>
        <p:spPr>
          <a:xfrm xmlns:a="http://schemas.openxmlformats.org/drawingml/2006/main">
            <a:off x="11506200" y="26229016"/>
            <a:ext cx="4781550" cy="3958544"/>
          </a:xfrm>
          <a:prstGeom xmlns:a="http://schemas.openxmlformats.org/drawingml/2006/main" prst="rect">
            <a:avLst/>
          </a:prstGeom>
        </p:spPr>
      </p:pic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99DB677-0C53-44DE-B59A-82C08D87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6174700"/>
            <a:ext cx="4781550" cy="4067175"/>
          </a:xfrm>
          <a:prstGeom xmlns:a="http://schemas.openxmlformats.org/drawingml/2006/main" prst="roundRect">
            <a:avLst>
              <a:gd name="adj" fmla="val 3279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FFCE4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08B422-FE65-4582-863C-31FD96E1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0"/>
            <a:ext cx="1504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结果解读：ZDT1 上 HA-RBF-PBI 的 IGD=6.04e-02，优于 NSGA-III 的 1.21e-01，说明聚类局部搜索能够提升部分前沿逼近。ZDT2/ZDT3 上表现不稳定，反映当前 PBI 局部搜索对凹前沿和不连续前沿仍敏感。该结果不是失败，而是明确指出下一步：动态 nadir、θ 自适应、支配式局部搜索与标量化消融。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626104F-C8D3-4A24-B931-0099274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42050"/>
            <a:ext cx="1504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工程案例定位：SolidWorks/CAE 只作为昂贵黑箱验证场景，用于检验小样本代理、异常惩罚、真实回评和算法接口的可用性；不作为算法研究对象本身。</a:t>
            </a:r>
          </a:p>
        </p:txBody>
      </p:sp>
      <p:sp>
        <p:nvSpPr>
          <p:cNvPr id="131" name="panel-已完成工作">
            <a:extLst xmlns:a="http://schemas.openxmlformats.org/drawingml/2006/main">
              <a:ext uri="{FF2B5EF4-FFF2-40B4-BE49-F238E27FC236}">
                <a16:creationId xmlns:a16="http://schemas.microsoft.com/office/drawing/2014/main" id="{91F47975-9057-4FA8-BF1B-E558101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27950"/>
            <a:ext cx="7991475" cy="8686800"/>
          </a:xfrm>
          <a:prstGeom xmlns:a="http://schemas.openxmlformats.org/drawingml/2006/main" prst="roundRect">
            <a:avLst>
              <a:gd name="adj" fmla="val 1669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73ECA0">
                <a:alpha val="9000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FE4B97B-9BF2-4ADE-B75B-8314B176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27950"/>
            <a:ext cx="95250" cy="868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EC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BD05E95-1EA0-4BC9-A892-F5570F54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80350"/>
            <a:ext cx="7458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已完成工作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3FCC709-A84C-44EF-8BF0-BCEFEF9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0"/>
            <a:ext cx="7458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从算法原型到扩展验证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1C02E34-67DB-4B30-866A-3EF370AE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66150"/>
            <a:ext cx="745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ECA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F4D864-C9CE-468F-96B6-46F90FE9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75700"/>
            <a:ext cx="7239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实现单目标 HA：聚类局部搜索、混合交叉池、自适应多项式变异与多样性维护。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实现多臂老虎机版本：QL/UCB 根据真实改进量动态选择局部搜索器。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实现 NSHA：参考方向 niche、PBI/Tchebycheff/WS/ASF/AASF/IPBI 标量化接口。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搭建小样本验证流程：LHS 初始采样、GP/KAN-GP 代理、CEI 采集、top-k 真实回评。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整理 ZDT 与工程仿真初步结果，形成下一步消融和统计检验方向。</a:t>
            </a:r>
          </a:p>
        </p:txBody>
      </p:sp>
      <p:sp>
        <p:nvSpPr>
          <p:cNvPr id="137" name="formula-当前代码能力">
            <a:extLst xmlns:a="http://schemas.openxmlformats.org/drawingml/2006/main">
              <a:ext uri="{FF2B5EF4-FFF2-40B4-BE49-F238E27FC236}">
                <a16:creationId xmlns:a16="http://schemas.microsoft.com/office/drawing/2014/main" id="{ACDA06B6-163F-4016-BD91-D2F1886F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71300"/>
            <a:ext cx="725805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73ECA0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9BDAE48-B148-4B3A-A641-E3F14390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856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EC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3ECA0"/>
                </a:solidFill>
                <a:latin typeface="Microsoft YaHei"/>
                <a:ea typeface="Microsoft YaHei"/>
                <a:cs typeface="Microsoft YaHei"/>
              </a:rPr>
              <a:t>当前代码能力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59AB80E-00B0-4264-ADC1-ADC71C7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85650"/>
            <a:ext cx="69151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HA: single-objective + constraints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NSHA: ref-dir niching + scalarizers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Bandit: QL / UCB local-search selector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Surrogate: GP / KAN-GP + CEI acquisition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F77C565-DDE2-4F56-AEF0-4F9509B7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4795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这些模块共同服务于通用算法框架；工程案例只承担黑箱昂贵评估验证。</a:t>
            </a:r>
          </a:p>
        </p:txBody>
      </p:sp>
      <p:sp>
        <p:nvSpPr>
          <p:cNvPr id="141" name="panel-下一步研究重点">
            <a:extLst xmlns:a="http://schemas.openxmlformats.org/drawingml/2006/main">
              <a:ext uri="{FF2B5EF4-FFF2-40B4-BE49-F238E27FC236}">
                <a16:creationId xmlns:a16="http://schemas.microsoft.com/office/drawing/2014/main" id="{7028EB09-8B69-4A8D-AF7F-3E890BC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127950"/>
            <a:ext cx="7991475" cy="8686800"/>
          </a:xfrm>
          <a:prstGeom xmlns:a="http://schemas.openxmlformats.org/drawingml/2006/main" prst="roundRect">
            <a:avLst>
              <a:gd name="adj" fmla="val 1669"/>
            </a:avLst>
          </a:prstGeom>
          <a:solidFill xmlns:a="http://schemas.openxmlformats.org/drawingml/2006/main">
            <a:srgbClr val="08224F">
              <a:alpha val="88000"/>
            </a:srgbClr>
          </a:solidFill>
          <a:ln xmlns:a="http://schemas.openxmlformats.org/drawingml/2006/main" w="19050">
            <a:solidFill>
              <a:srgbClr val="FF8E46">
                <a:alpha val="9000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1A3385F-A2FC-4DE7-BBA3-D4DE8F01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127950"/>
            <a:ext cx="95250" cy="868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E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AF590AA-1CE5-4D72-AC04-3D72BB59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280350"/>
            <a:ext cx="7458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下一步研究重点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3CF694C-DE7B-42C0-A5FC-D953CECE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623250"/>
            <a:ext cx="7458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BB9CE"/>
                </a:solidFill>
                <a:latin typeface="Microsoft YaHei"/>
                <a:ea typeface="Microsoft YaHei"/>
                <a:cs typeface="Microsoft YaHei"/>
              </a:rPr>
              <a:t>让算法故事闭环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5296DA2-4A18-4C78-9A0D-8D144641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966150"/>
            <a:ext cx="745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8E46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67499D-D8D4-4CAB-A1DE-C5F89346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175700"/>
            <a:ext cx="7239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聚类自适应：比较 K-means、MeanShift、DBSCAN 在多峰/高维/噪声场景下的收益与开销。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交叉池自适应：由固定 60/25/15 走向基于反馈的算子概率更新。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多目标局部搜索：改进 PBI 参数、动态理想/最差点、Pareto-Nelder-Mead 和共同下降方向。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理论证明：补全多亲概率采样图式传播模型与精英马尔可夫链收敛条件。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• 验证体系：CEC + ZDT + 一个工程黑箱案例，主次清晰地证明通用算法能力。</a:t>
            </a:r>
          </a:p>
        </p:txBody>
      </p:sp>
      <p:sp>
        <p:nvSpPr>
          <p:cNvPr id="147" name="formula-论文实验矩阵">
            <a:extLst xmlns:a="http://schemas.openxmlformats.org/drawingml/2006/main">
              <a:ext uri="{FF2B5EF4-FFF2-40B4-BE49-F238E27FC236}">
                <a16:creationId xmlns:a16="http://schemas.microsoft.com/office/drawing/2014/main" id="{AEB6160E-5B4A-42AE-8537-EDE3AE5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071300"/>
            <a:ext cx="725805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092B62"/>
          </a:solidFill>
          <a:ln xmlns:a="http://schemas.openxmlformats.org/drawingml/2006/main" w="19050">
            <a:solidFill>
              <a:srgbClr val="FF8E46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2504EAD-B757-4163-B80F-B20F6B1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856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E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8E46"/>
                </a:solidFill>
                <a:latin typeface="Microsoft YaHei"/>
                <a:ea typeface="Microsoft YaHei"/>
                <a:cs typeface="Microsoft YaHei"/>
              </a:rPr>
              <a:t>论文实验矩阵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ED3AFBD-94B4-46E8-98A1-1643A28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585650"/>
            <a:ext cx="69151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Benchmark: CEC + ZDT + engineering black-box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Ablation: Full / no-cluster / no-LS / no-pool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Metrics: best, FEs, IGD, HV, feasibility rate</a:t>
            </a:r>
          </a:p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8FAFC"/>
                </a:solidFill>
                <a:latin typeface="Cambria Math"/>
                <a:ea typeface="Cambria Math"/>
                <a:cs typeface="Cambria Math"/>
              </a:rPr>
              <a:t>Statistics: Wilcoxon rank-sum test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EB282F1-BC7D-43EF-AD02-67B7E68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747950"/>
            <a:ext cx="691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主结论应证明通用算法能力，而不是某个具体零件调参成功。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EAAA659-B50A-4140-851E-E0AE032B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0"/>
            <a:ext cx="1604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E48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19F6DFD-60FC-483F-9104-3CD462A5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0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DE6F7"/>
                </a:solidFill>
                <a:latin typeface="Microsoft YaHei"/>
                <a:ea typeface="Microsoft YaHei"/>
                <a:cs typeface="Microsoft YaHei"/>
              </a:rPr>
              <a:t>HA / NSHA  |  Clustering Adaptive Local Search  |  Hybrid Crossover Pool  |  Bandit Local Search Selection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EBEE0D9-03AC-4A70-99B4-F738648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1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CE48"/>
                </a:solidFill>
                <a:latin typeface="Microsoft YaHei"/>
                <a:ea typeface="Microsoft YaHei"/>
                <a:cs typeface="Microsoft YaHei"/>
              </a:rPr>
              <a:t>2026 Academic Poster</a:t>
            </a:r>
          </a:p>
        </p:txBody>
      </p:sp>
    </p:spTree>
    <p:extLst>
      <p:ext uri="{BB962C8B-B14F-4D97-AF65-F5344CB8AC3E}">
        <p14:creationId xmlns:p14="http://schemas.microsoft.com/office/powerpoint/2010/main" val="312630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2026-06-22T07:35:15.6390000Z</dcterms:created>
  <dcterms:modified xsi:type="dcterms:W3CDTF">2026-06-22T07:35:15.6390000Z</dcterms:modified>
</coreProperties>
</file>